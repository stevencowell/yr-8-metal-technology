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660092c0314ff2" /><Relationship Type="http://schemas.openxmlformats.org/officeDocument/2006/relationships/extended-properties" Target="/docProps/app.xml" Id="R19deecec6e55448e" /><Relationship Type="http://schemas.openxmlformats.org/officeDocument/2006/relationships/officeDocument" Target="/ppt/presentation.xml" Id="Rfe5b33fd8cf047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b5f651f23144c4"/>
  </p:sldMasterIdLst>
  <p:notesMasterIdLst>
    <p:notesMasterId xmlns:r="http://schemas.openxmlformats.org/officeDocument/2006/relationships" r:id="R851d77b4d7ad4805"/>
  </p:notesMasterIdLst>
  <p:sldIdLst>
    <p:sldId xmlns:r="http://schemas.openxmlformats.org/officeDocument/2006/relationships" id="256" r:id="R3c212143d0d04725"/>
    <p:sldId xmlns:r="http://schemas.openxmlformats.org/officeDocument/2006/relationships" id="257" r:id="Rd06f7efce6c84c0e"/>
    <p:sldId xmlns:r="http://schemas.openxmlformats.org/officeDocument/2006/relationships" id="258" r:id="Re667f3d29e0a4874"/>
    <p:sldId xmlns:r="http://schemas.openxmlformats.org/officeDocument/2006/relationships" id="259" r:id="Rdc2793eec46e4dde"/>
    <p:sldId xmlns:r="http://schemas.openxmlformats.org/officeDocument/2006/relationships" id="260" r:id="R89a95b2ad9e64ed8"/>
    <p:sldId xmlns:r="http://schemas.openxmlformats.org/officeDocument/2006/relationships" id="261" r:id="R7c3f9b148e1b425c"/>
    <p:sldId xmlns:r="http://schemas.openxmlformats.org/officeDocument/2006/relationships" id="262" r:id="R6cb02b0a260f4296"/>
    <p:sldId xmlns:r="http://schemas.openxmlformats.org/officeDocument/2006/relationships" id="263" r:id="R77b2c374cdc94a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7140768cc6454d" /><Relationship Type="http://schemas.openxmlformats.org/officeDocument/2006/relationships/slideMaster" Target="/ppt/slideMasters/slideMaster1.xml" Id="Reeb5f651f23144c4" /><Relationship Type="http://schemas.openxmlformats.org/officeDocument/2006/relationships/notesMaster" Target="/ppt/notesMasters/notesMaster1.xml" Id="R851d77b4d7ad4805" /><Relationship Type="http://schemas.openxmlformats.org/officeDocument/2006/relationships/presProps" Target="/ppt/presProps.xml" Id="R9fec145ac1c94e10" /><Relationship Type="http://schemas.openxmlformats.org/officeDocument/2006/relationships/tableStyles" Target="/ppt/tableStyles.xml" Id="Racc97503fab94fff" /><Relationship Type="http://schemas.openxmlformats.org/officeDocument/2006/relationships/slide" Target="/ppt/slides/slide1.xml" Id="R3c212143d0d04725" /><Relationship Type="http://schemas.openxmlformats.org/officeDocument/2006/relationships/slide" Target="/ppt/slides/slide2.xml" Id="Rd06f7efce6c84c0e" /><Relationship Type="http://schemas.openxmlformats.org/officeDocument/2006/relationships/slide" Target="/ppt/slides/slide3.xml" Id="Re667f3d29e0a4874" /><Relationship Type="http://schemas.openxmlformats.org/officeDocument/2006/relationships/slide" Target="/ppt/slides/slide4.xml" Id="Rdc2793eec46e4dde" /><Relationship Type="http://schemas.openxmlformats.org/officeDocument/2006/relationships/slide" Target="/ppt/slides/slide5.xml" Id="R89a95b2ad9e64ed8" /><Relationship Type="http://schemas.openxmlformats.org/officeDocument/2006/relationships/slide" Target="/ppt/slides/slide6.xml" Id="R7c3f9b148e1b425c" /><Relationship Type="http://schemas.openxmlformats.org/officeDocument/2006/relationships/slide" Target="/ppt/slides/slide7.xml" Id="R6cb02b0a260f4296" /><Relationship Type="http://schemas.openxmlformats.org/officeDocument/2006/relationships/slide" Target="/ppt/slides/slide8.xml" Id="R77b2c374cdc94a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09a90b5fb04e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384fed464c426d" /><Relationship Type="http://schemas.openxmlformats.org/officeDocument/2006/relationships/notesMaster" Target="/ppt/notesMasters/notesMaster1.xml" Id="Rd322a95a56ee41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5137129acd4fac" /><Relationship Type="http://schemas.openxmlformats.org/officeDocument/2006/relationships/notesMaster" Target="/ppt/notesMasters/notesMaster1.xml" Id="Rcfcae30aa0d643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ef65e0978543b5" /><Relationship Type="http://schemas.openxmlformats.org/officeDocument/2006/relationships/notesMaster" Target="/ppt/notesMasters/notesMaster1.xml" Id="R14a8bf0f89d54e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33580b491c48d2" /><Relationship Type="http://schemas.openxmlformats.org/officeDocument/2006/relationships/notesMaster" Target="/ppt/notesMasters/notesMaster1.xml" Id="Rc16075033ff547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7cde8727c54e4f" /><Relationship Type="http://schemas.openxmlformats.org/officeDocument/2006/relationships/notesMaster" Target="/ppt/notesMasters/notesMaster1.xml" Id="R789e96d178f141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4945e029fd4486" /><Relationship Type="http://schemas.openxmlformats.org/officeDocument/2006/relationships/notesMaster" Target="/ppt/notesMasters/notesMaster1.xml" Id="Rb1ea8ef05e7b4a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816338599d47ed" /><Relationship Type="http://schemas.openxmlformats.org/officeDocument/2006/relationships/notesMaster" Target="/ppt/notesMasters/notesMaster1.xml" Id="R8aa47554e8ba47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92b2d36c034c82" /><Relationship Type="http://schemas.openxmlformats.org/officeDocument/2006/relationships/notesMaster" Target="/ppt/notesMasters/notesMaster1.xml" Id="Ra063e69336b747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7cc35f0b64b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8eecdc6d554603" /><Relationship Type="http://schemas.openxmlformats.org/officeDocument/2006/relationships/slideLayout" Target="/ppt/slideLayouts/slideLayout1.xml" Id="R6946c5f1b37a44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46c5f1b37a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244569d8f4493" /><Relationship Type="http://schemas.openxmlformats.org/officeDocument/2006/relationships/notesSlide" Target="/ppt/notesSlides/notesSlide1.xml" Id="R7300592e69ae43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f851688a74305" /><Relationship Type="http://schemas.openxmlformats.org/officeDocument/2006/relationships/notesSlide" Target="/ppt/notesSlides/notesSlide2.xml" Id="R59c5e5fde8ce43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15057fee64dd2" /><Relationship Type="http://schemas.openxmlformats.org/officeDocument/2006/relationships/notesSlide" Target="/ppt/notesSlides/notesSlide3.xml" Id="Rcd703f71a0ca41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6b8c5ebcf4714" /><Relationship Type="http://schemas.openxmlformats.org/officeDocument/2006/relationships/notesSlide" Target="/ppt/notesSlides/notesSlide4.xml" Id="Rfd9eb6728ca049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4f290eb844097" /><Relationship Type="http://schemas.openxmlformats.org/officeDocument/2006/relationships/notesSlide" Target="/ppt/notesSlides/notesSlide5.xml" Id="Rd89eddddf17749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8a4f3855e4a25" /><Relationship Type="http://schemas.openxmlformats.org/officeDocument/2006/relationships/notesSlide" Target="/ppt/notesSlides/notesSlide6.xml" Id="R8d1692a27a744f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bc57913474e0c" /><Relationship Type="http://schemas.openxmlformats.org/officeDocument/2006/relationships/notesSlide" Target="/ppt/notesSlides/notesSlide7.xml" Id="R3f402e65a5b24e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670aa5c8c41aa" /><Relationship Type="http://schemas.openxmlformats.org/officeDocument/2006/relationships/notesSlide" Target="/ppt/notesSlides/notesSlide8.xml" Id="Rac0c6701105e43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14DEDE87-4BF8-46EB-8C1D-DA15DC93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HOSE REEL HOLDER · MODULE 5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ED9711C-742A-4127-B139-AFB3E25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Test, evaluate and present evidence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56F7B829-E83D-4548-8601-2C0FED38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teacher-approved tests, organised folio evidence and a specific evaluation to show both the result and the learning process.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41872191-45F2-4905-AC77-20953EEB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9–10</a:t>
            </a:r>
          </a:p>
        </p:txBody>
      </p:sp>
    </p:spTree>
    <p:extLst>
      <p:ext uri="{BB962C8B-B14F-4D97-AF65-F5344CB8AC3E}">
        <p14:creationId xmlns:p14="http://schemas.microsoft.com/office/powerpoint/2010/main" val="443436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647D5C8-DDC3-4E79-9AFB-8D1CC88A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7B0679-B46D-4B1B-8893-59A72782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363F4B-36D9-4AE5-8487-34721DB0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0B5DDC25-A3CA-459C-8B7B-C800C146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FA497D8B-2E97-448C-868C-814C43AC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B2ED83D7-E7C2-4C22-B35F-795BC540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makes an evidence caption useful?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AE20F7B3-639F-4A74-AB3A-77D8DC3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071E8F3C-C6E2-43FB-921E-C668A27F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BAE2C3F5-BA09-4559-8E96-7CB98670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functional testing follow?</a:t>
            </a:r>
          </a:p>
        </p:txBody>
      </p:sp>
      <p:sp>
        <p:nvSpPr>
          <p:cNvPr id="10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368E0970-12B7-4EF5-AA5D-8D803FE6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5</a:t>
            </a:r>
          </a:p>
        </p:txBody>
      </p:sp>
      <p:sp>
        <p:nvSpPr>
          <p:cNvPr id="11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B9DEA23E-3F0E-4A16-A121-3FBE1399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3155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A74FB3A-6436-4F5B-B219-F532D6EF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CA1C78-533D-47C3-ADEE-87D99DBE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9A8872-7DAD-443E-BD31-F145A637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7FB40B4C-E769-41AA-B6BD-687E7667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7527721E-3E50-4DFB-89EA-54ADAF1A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DB1F52F4-28CE-4B90-AACB-1BDA7CEA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Evidence proves the process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36469990-B9C5-453E-A44E-918752A9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D13DC3F2-FF78-4C95-9D0F-7ED60810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98AC2DD7-E8A5-46FB-861F-7A9E460F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Organise the folio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AED0861F-67C5-4D0D-806D-2C8B49CF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0AA8054B-CC9E-4EF4-9A8B-C33121E3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589013B8-AA8A-49D0-A700-7D586A61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Evaluate with evidence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EB448D6A-F27A-4605-B3C0-22DA2651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5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E034D020-B847-4D70-A254-1A876E0F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9051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7046CB38-0D67-4DBD-9DE4-21A695CF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BA3D01-4C62-4F30-9AF3-DF7C81B5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Evidence proves the process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B6F3FC-14A1-40F4-932B-5825EB9F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852E0430-04E7-4B00-BFAF-F1AF6D52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strong portfolio shows how the Hose Reel Holder was made, not just what it looked like at the end.</a:t>
            </a:r>
          </a:p>
        </p:txBody>
      </p:sp>
      <p:sp>
        <p:nvSpPr>
          <p:cNvPr id="5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4440E960-AA39-4504-92FD-0B9D214A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Testing must use the teacher-approved criteria and method.</a:t>
            </a:r>
          </a:p>
        </p:txBody>
      </p:sp>
      <p:sp>
        <p:nvSpPr>
          <p:cNvPr id="6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54602093-91D2-4307-A7C4-EAEA83D2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Good evidence connects the stage, decision, check and result.</a:t>
            </a:r>
          </a:p>
        </p:txBody>
      </p:sp>
      <p:sp>
        <p:nvSpPr>
          <p:cNvPr id="7" name="theory-1-callout-panel">
            <a:extLst xmlns:a="http://schemas.openxmlformats.org/drawingml/2006/main">
              <a:ext uri="{FF2B5EF4-FFF2-40B4-BE49-F238E27FC236}">
                <a16:creationId xmlns:a16="http://schemas.microsoft.com/office/drawing/2014/main" id="{48B2FB28-1884-4C59-9860-65A2A687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1-callout">
            <a:extLst xmlns:a="http://schemas.openxmlformats.org/drawingml/2006/main">
              <a:ext uri="{FF2B5EF4-FFF2-40B4-BE49-F238E27FC236}">
                <a16:creationId xmlns:a16="http://schemas.microsoft.com/office/drawing/2014/main" id="{B19414DA-EE9A-44CA-9B5B-9E643713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Good evidence connects the stage, decision, check and result.</a:t>
            </a:r>
          </a:p>
        </p:txBody>
      </p:sp>
      <p:sp>
        <p:nvSpPr>
          <p:cNvPr id="9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AD75E3D1-7EA9-486F-A77A-9BB271D2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5</a:t>
            </a:r>
          </a:p>
        </p:txBody>
      </p:sp>
      <p:sp>
        <p:nvSpPr>
          <p:cNvPr id="10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78666D74-7570-4BD5-8333-B1C33C39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2414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4E1F2D49-28D5-434C-89EB-5483E25F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0C9D3C-81F5-44D8-8613-C97B4948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Organise the folio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BBAAF4A-C5F8-4E29-BBD4-3AA34B47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E66D9AAA-5F1A-4BA7-A199-13AB050E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Arrange evidence so another reader can follow the project from brief and research through ideas, planning, production, testing and evaluation.</a:t>
            </a:r>
          </a:p>
        </p:txBody>
      </p:sp>
      <p:sp>
        <p:nvSpPr>
          <p:cNvPr id="5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C66FD7F8-AF8D-4EAB-98CC-DDD80C32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folio should show design thinking, safe production, materials understanding, problem solving and evaluation.</a:t>
            </a:r>
          </a:p>
        </p:txBody>
      </p:sp>
      <p:sp>
        <p:nvSpPr>
          <p:cNvPr id="6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038725B4-3F5D-426F-8018-B29FD3E7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folio is an evidence trail, not a photo dump.</a:t>
            </a:r>
          </a:p>
        </p:txBody>
      </p:sp>
      <p:sp>
        <p:nvSpPr>
          <p:cNvPr id="7" name="theory-2-callout-panel">
            <a:extLst xmlns:a="http://schemas.openxmlformats.org/drawingml/2006/main">
              <a:ext uri="{FF2B5EF4-FFF2-40B4-BE49-F238E27FC236}">
                <a16:creationId xmlns:a16="http://schemas.microsoft.com/office/drawing/2014/main" id="{99400A31-2513-4E6B-9708-ADD8943A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2-callout">
            <a:extLst xmlns:a="http://schemas.openxmlformats.org/drawingml/2006/main">
              <a:ext uri="{FF2B5EF4-FFF2-40B4-BE49-F238E27FC236}">
                <a16:creationId xmlns:a16="http://schemas.microsoft.com/office/drawing/2014/main" id="{69561180-B665-4151-AE9F-A3F799F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 folio is an evidence trail, not a photo dump.</a:t>
            </a:r>
          </a:p>
        </p:txBody>
      </p:sp>
      <p:sp>
        <p:nvSpPr>
          <p:cNvPr id="9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E4E8E6E9-0C15-4BA8-BEAD-24A40FFD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5</a:t>
            </a:r>
          </a:p>
        </p:txBody>
      </p:sp>
      <p:sp>
        <p:nvSpPr>
          <p:cNvPr id="10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DD752E0B-E465-49F1-B514-B8D5A1D5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11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AF2AEFD4-EE33-4AE7-8E9C-238585D7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7F91D3-6D61-4F42-B3A0-DF56806A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Evaluate with evidence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88A5470-6777-462B-A6F4-50EB3F6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23EA0664-2743-461F-8027-5AE1D2BE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Compare the completed project with the teacher-approved criteria and the intended user need.</a:t>
            </a:r>
          </a:p>
        </p:txBody>
      </p:sp>
      <p:sp>
        <p:nvSpPr>
          <p:cNvPr id="5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7A92CD76-D490-499E-9439-58C5C0F1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realistic improvement changes a design decision, production sequence, checking point or skill practice.</a:t>
            </a:r>
          </a:p>
        </p:txBody>
      </p:sp>
      <p:sp>
        <p:nvSpPr>
          <p:cNvPr id="6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4B5064B6-40C7-47CA-8E94-19F5F369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Specific evidence turns an opinion into an evaluation.</a:t>
            </a:r>
          </a:p>
        </p:txBody>
      </p:sp>
      <p:sp>
        <p:nvSpPr>
          <p:cNvPr id="7" name="theory-3-callout-panel">
            <a:extLst xmlns:a="http://schemas.openxmlformats.org/drawingml/2006/main">
              <a:ext uri="{FF2B5EF4-FFF2-40B4-BE49-F238E27FC236}">
                <a16:creationId xmlns:a16="http://schemas.microsoft.com/office/drawing/2014/main" id="{1D8E354D-3D08-4B8E-BDD6-79BFBFCD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3-callout">
            <a:extLst xmlns:a="http://schemas.openxmlformats.org/drawingml/2006/main">
              <a:ext uri="{FF2B5EF4-FFF2-40B4-BE49-F238E27FC236}">
                <a16:creationId xmlns:a16="http://schemas.microsoft.com/office/drawing/2014/main" id="{A93E0E20-CE26-49E7-BCE7-36EA20A6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Specific evidence turns an opinion into an evaluation.</a:t>
            </a:r>
          </a:p>
        </p:txBody>
      </p:sp>
      <p:sp>
        <p:nvSpPr>
          <p:cNvPr id="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9D7F2E32-2749-4325-AD05-E5C080BA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5</a:t>
            </a:r>
          </a:p>
        </p:txBody>
      </p:sp>
      <p:sp>
        <p:nvSpPr>
          <p:cNvPr id="10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D341F63D-1A19-4763-B79D-15079B1D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1881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C5BB564-B170-4562-B091-6ECC9D55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568F14-ADAC-4920-AB9D-28C3A5F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071A7F2-F531-49F9-AAFB-B466A94B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D724DCA7-4B09-467C-AA74-A9A9B46C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395DED80-8A63-4F72-86F4-09EEB110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316169A9-6B7E-4306-BCB5-1A594A07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makes an evidence caption useful?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366FC5B6-5253-4C04-9D59-A6CE6D5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51C5FAF5-6721-4A4E-874B-840B7A8F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4C91473D-322C-4CED-B1FE-4FEB4EC1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functional testing follow?</a:t>
            </a:r>
          </a:p>
        </p:txBody>
      </p:sp>
      <p:sp>
        <p:nvSpPr>
          <p:cNvPr id="10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07AC6CDA-F43B-4F41-B3B9-525A1BCA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5</a:t>
            </a:r>
          </a:p>
        </p:txBody>
      </p:sp>
      <p:sp>
        <p:nvSpPr>
          <p:cNvPr id="11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602F1977-38AA-475A-ADCD-99BB0117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9786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6FD3333D-5E33-4B74-BB62-4931241D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C246CC-ACC7-4C53-BAD6-7C41B3B4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4BD1597-3B1B-4C0B-A584-0C0655DC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C0EF4704-8076-42A4-A445-6153C6C3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B46001C1-24BE-4DD1-927E-CEAD22DF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6C8B7A63-88A3-4289-ADBB-3C73FD23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one stage of the project and describe suitable evidence, the decision or check it would prove, and one realistic improvement for future work.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28EC3D1B-22A6-4A9C-86BD-C9E279DF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7F2E8EB6-F12B-450E-A367-38D4C827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63132FD6-7653-4A27-9784-40746961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the marking-out stage, I would include a photo showing the issued plan, datum edge and finished marks. The caption would explain that I checked the positions before cutting. Next time I would record that check straight away so the evidence is clearer.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BE9E5259-8911-4773-AFF8-A9249FCD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97433711-E56E-4060-AFA3-1E950916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5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01D05F5B-E22D-49C2-A465-55B36C2A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7527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2026-08-16T10:43:10.8860000Z</dcterms:created>
  <dcterms:modified xsi:type="dcterms:W3CDTF">2026-08-16T10:43:10.8860000Z</dcterms:modified>
</coreProperties>
</file>