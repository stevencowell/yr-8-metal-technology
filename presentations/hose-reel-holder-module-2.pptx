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4fa341cb9b4303" /><Relationship Type="http://schemas.openxmlformats.org/officeDocument/2006/relationships/extended-properties" Target="/docProps/app.xml" Id="R862a228f2e5e4533" /><Relationship Type="http://schemas.openxmlformats.org/officeDocument/2006/relationships/officeDocument" Target="/ppt/presentation.xml" Id="R9ad51c3d08b441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9fc0ff852146c1"/>
  </p:sldMasterIdLst>
  <p:notesMasterIdLst>
    <p:notesMasterId xmlns:r="http://schemas.openxmlformats.org/officeDocument/2006/relationships" r:id="Rda58d98c547f4705"/>
  </p:notesMasterIdLst>
  <p:sldIdLst>
    <p:sldId xmlns:r="http://schemas.openxmlformats.org/officeDocument/2006/relationships" id="256" r:id="R64162496f334421e"/>
    <p:sldId xmlns:r="http://schemas.openxmlformats.org/officeDocument/2006/relationships" id="257" r:id="R15193d9323db4522"/>
    <p:sldId xmlns:r="http://schemas.openxmlformats.org/officeDocument/2006/relationships" id="258" r:id="Rb5e2cb96e34b49e0"/>
    <p:sldId xmlns:r="http://schemas.openxmlformats.org/officeDocument/2006/relationships" id="259" r:id="R5385e043d0124e20"/>
    <p:sldId xmlns:r="http://schemas.openxmlformats.org/officeDocument/2006/relationships" id="260" r:id="R498a5d103f234c93"/>
    <p:sldId xmlns:r="http://schemas.openxmlformats.org/officeDocument/2006/relationships" id="261" r:id="R680c64ff0af94652"/>
    <p:sldId xmlns:r="http://schemas.openxmlformats.org/officeDocument/2006/relationships" id="262" r:id="R10d655acf83f484d"/>
    <p:sldId xmlns:r="http://schemas.openxmlformats.org/officeDocument/2006/relationships" id="263" r:id="Red47868c746e4c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c727f471b845ca" /><Relationship Type="http://schemas.openxmlformats.org/officeDocument/2006/relationships/slideMaster" Target="/ppt/slideMasters/slideMaster1.xml" Id="Rbf9fc0ff852146c1" /><Relationship Type="http://schemas.openxmlformats.org/officeDocument/2006/relationships/notesMaster" Target="/ppt/notesMasters/notesMaster1.xml" Id="Rda58d98c547f4705" /><Relationship Type="http://schemas.openxmlformats.org/officeDocument/2006/relationships/presProps" Target="/ppt/presProps.xml" Id="R390820d14e9c474c" /><Relationship Type="http://schemas.openxmlformats.org/officeDocument/2006/relationships/tableStyles" Target="/ppt/tableStyles.xml" Id="Rcb04fa8a8eab4880" /><Relationship Type="http://schemas.openxmlformats.org/officeDocument/2006/relationships/slide" Target="/ppt/slides/slide1.xml" Id="R64162496f334421e" /><Relationship Type="http://schemas.openxmlformats.org/officeDocument/2006/relationships/slide" Target="/ppt/slides/slide2.xml" Id="R15193d9323db4522" /><Relationship Type="http://schemas.openxmlformats.org/officeDocument/2006/relationships/slide" Target="/ppt/slides/slide3.xml" Id="Rb5e2cb96e34b49e0" /><Relationship Type="http://schemas.openxmlformats.org/officeDocument/2006/relationships/slide" Target="/ppt/slides/slide4.xml" Id="R5385e043d0124e20" /><Relationship Type="http://schemas.openxmlformats.org/officeDocument/2006/relationships/slide" Target="/ppt/slides/slide5.xml" Id="R498a5d103f234c93" /><Relationship Type="http://schemas.openxmlformats.org/officeDocument/2006/relationships/slide" Target="/ppt/slides/slide6.xml" Id="R680c64ff0af94652" /><Relationship Type="http://schemas.openxmlformats.org/officeDocument/2006/relationships/slide" Target="/ppt/slides/slide7.xml" Id="R10d655acf83f484d" /><Relationship Type="http://schemas.openxmlformats.org/officeDocument/2006/relationships/slide" Target="/ppt/slides/slide8.xml" Id="Red47868c746e4c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79baa565324e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83c9d93df4150" /><Relationship Type="http://schemas.openxmlformats.org/officeDocument/2006/relationships/notesMaster" Target="/ppt/notesMasters/notesMaster1.xml" Id="Rb833e48e3d8e45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76f9af1634ed7" /><Relationship Type="http://schemas.openxmlformats.org/officeDocument/2006/relationships/notesMaster" Target="/ppt/notesMasters/notesMaster1.xml" Id="R8b57e794d38347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e62a9aac984bbf" /><Relationship Type="http://schemas.openxmlformats.org/officeDocument/2006/relationships/notesMaster" Target="/ppt/notesMasters/notesMaster1.xml" Id="Rcf6ff638a95a46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f5e864bc824cde" /><Relationship Type="http://schemas.openxmlformats.org/officeDocument/2006/relationships/notesMaster" Target="/ppt/notesMasters/notesMaster1.xml" Id="R176678db268a4b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3a210925bd4aaa" /><Relationship Type="http://schemas.openxmlformats.org/officeDocument/2006/relationships/notesMaster" Target="/ppt/notesMasters/notesMaster1.xml" Id="Radb8f7e40f3a4d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7ee6edaede4b64" /><Relationship Type="http://schemas.openxmlformats.org/officeDocument/2006/relationships/notesMaster" Target="/ppt/notesMasters/notesMaster1.xml" Id="R1331d464899a4a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884fa75b234697" /><Relationship Type="http://schemas.openxmlformats.org/officeDocument/2006/relationships/notesMaster" Target="/ppt/notesMasters/notesMaster1.xml" Id="Rdd8d86a16d114d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cacbb044244a99" /><Relationship Type="http://schemas.openxmlformats.org/officeDocument/2006/relationships/notesMaster" Target="/ppt/notesMasters/notesMaster1.xml" Id="Rda9b5881f751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guided/data.js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1652ac78e4f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28e6bc2a04c9f" /><Relationship Type="http://schemas.openxmlformats.org/officeDocument/2006/relationships/slideLayout" Target="/ppt/slideLayouts/slideLayout1.xml" Id="R5ce520ee6b9b47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e520ee6b9b47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ff60ef6e64ad1" /><Relationship Type="http://schemas.openxmlformats.org/officeDocument/2006/relationships/notesSlide" Target="/ppt/notesSlides/notesSlide1.xml" Id="Rc5bc32650fbf46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35dbc1eec4d3a" /><Relationship Type="http://schemas.openxmlformats.org/officeDocument/2006/relationships/notesSlide" Target="/ppt/notesSlides/notesSlide2.xml" Id="R212831700d6043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dd25fae1a46da" /><Relationship Type="http://schemas.openxmlformats.org/officeDocument/2006/relationships/notesSlide" Target="/ppt/notesSlides/notesSlide3.xml" Id="R1e5421c7a76241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58e0aff674e99" /><Relationship Type="http://schemas.openxmlformats.org/officeDocument/2006/relationships/notesSlide" Target="/ppt/notesSlides/notesSlide4.xml" Id="Rbe2e47046b7e4e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23c869c9a406f" /><Relationship Type="http://schemas.openxmlformats.org/officeDocument/2006/relationships/notesSlide" Target="/ppt/notesSlides/notesSlide5.xml" Id="R28ff185f1b374e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49341478c445d" /><Relationship Type="http://schemas.openxmlformats.org/officeDocument/2006/relationships/notesSlide" Target="/ppt/notesSlides/notesSlide6.xml" Id="R08009577d47840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7b9a3a840446a" /><Relationship Type="http://schemas.openxmlformats.org/officeDocument/2006/relationships/notesSlide" Target="/ppt/notesSlides/notesSlide7.xml" Id="R33984668075648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3e2f2f94645d8" /><Relationship Type="http://schemas.openxmlformats.org/officeDocument/2006/relationships/notesSlide" Target="/ppt/notesSlides/notesSlide8.xml" Id="Rf5cb271cac044d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label">
            <a:extLst xmlns:a="http://schemas.openxmlformats.org/drawingml/2006/main">
              <a:ext uri="{FF2B5EF4-FFF2-40B4-BE49-F238E27FC236}">
                <a16:creationId xmlns:a16="http://schemas.microsoft.com/office/drawing/2014/main" id="{E1209A68-E850-434E-B43E-5C29175C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35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HOSE REEL HOLDER · MODULE 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27AA01A-2296-464B-A889-D2F81809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00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Design, plans and accurate marking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60AC2ECB-5E67-4B53-B5B0-D0639FB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51616A"/>
                </a:solidFill>
                <a:latin typeface="Arial"/>
                <a:ea typeface="Arial"/>
                <a:cs typeface="Arial"/>
              </a:rPr>
              <a:t>Move from a teacher-issued drawing to clear, checked marks using a datum edge and a planned production sequence.</a:t>
            </a:r>
          </a:p>
        </p:txBody>
      </p:sp>
      <p:sp>
        <p:nvSpPr>
          <p:cNvPr id="4" name="cover-weeks">
            <a:extLst xmlns:a="http://schemas.openxmlformats.org/drawingml/2006/main">
              <a:ext uri="{FF2B5EF4-FFF2-40B4-BE49-F238E27FC236}">
                <a16:creationId xmlns:a16="http://schemas.microsoft.com/office/drawing/2014/main" id="{2A9BAEFD-4BBC-4CF9-80A0-D81A9C1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Weeks 3–4</a:t>
            </a:r>
          </a:p>
        </p:txBody>
      </p:sp>
    </p:spTree>
    <p:extLst>
      <p:ext uri="{BB962C8B-B14F-4D97-AF65-F5344CB8AC3E}">
        <p14:creationId xmlns:p14="http://schemas.microsoft.com/office/powerpoint/2010/main" val="2111414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080133F6-3DA4-4FDA-9C1A-06D2017A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0003EA-19E0-48FD-B678-88F3DEAD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27AEAA-4FAC-4875-917F-10AE71E8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Think first. Discuss your reasoning, then check it against the module.</a:t>
            </a:r>
          </a:p>
        </p:txBody>
      </p:sp>
      <p:sp>
        <p:nvSpPr>
          <p:cNvPr id="4" name="retrieval-panel-1">
            <a:extLst xmlns:a="http://schemas.openxmlformats.org/drawingml/2006/main">
              <a:ext uri="{FF2B5EF4-FFF2-40B4-BE49-F238E27FC236}">
                <a16:creationId xmlns:a16="http://schemas.microsoft.com/office/drawing/2014/main" id="{97F69408-A779-40E3-BAA9-EA27ACF4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AC163E88-5896-435F-916E-274DAA0E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67E79761-8B7C-485E-B2A5-FAAD95B6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a datum or reference edge used?</a:t>
            </a:r>
          </a:p>
        </p:txBody>
      </p:sp>
      <p:sp>
        <p:nvSpPr>
          <p:cNvPr id="7" name="retrieval-panel-2">
            <a:extLst xmlns:a="http://schemas.openxmlformats.org/drawingml/2006/main">
              <a:ext uri="{FF2B5EF4-FFF2-40B4-BE49-F238E27FC236}">
                <a16:creationId xmlns:a16="http://schemas.microsoft.com/office/drawing/2014/main" id="{382F9479-37C1-4B3B-9052-E0CDC9D6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624D6F4D-D187-4E94-B7DA-03DF7FE6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6C168BE8-E7ED-4EBB-A217-EA5C12B9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00475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should happen immediately before cutting?</a:t>
            </a:r>
          </a:p>
        </p:txBody>
      </p:sp>
      <p:sp>
        <p:nvSpPr>
          <p:cNvPr id="10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99B2E651-61E1-49E6-A943-9316079E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2</a:t>
            </a:r>
          </a:p>
        </p:txBody>
      </p:sp>
      <p:sp>
        <p:nvSpPr>
          <p:cNvPr id="11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951C5300-084B-469F-A091-BCE972F5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474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53769EE-4AA6-4A70-827D-0D5CA718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CD7D49-021E-4F44-B96C-FCA45374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organise this module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448845-473B-43B7-B64E-AD416DE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Work through them in order, then complete the checks and written evidence.</a:t>
            </a:r>
          </a:p>
        </p:txBody>
      </p:sp>
      <p:sp>
        <p:nvSpPr>
          <p:cNvPr id="4" name="roadmap-panel-1">
            <a:extLst xmlns:a="http://schemas.openxmlformats.org/drawingml/2006/main">
              <a:ext uri="{FF2B5EF4-FFF2-40B4-BE49-F238E27FC236}">
                <a16:creationId xmlns:a16="http://schemas.microsoft.com/office/drawing/2014/main" id="{8087F691-ED55-4673-BFA3-C6670A67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oadmap-index-1">
            <a:extLst xmlns:a="http://schemas.openxmlformats.org/drawingml/2006/main">
              <a:ext uri="{FF2B5EF4-FFF2-40B4-BE49-F238E27FC236}">
                <a16:creationId xmlns:a16="http://schemas.microsoft.com/office/drawing/2014/main" id="{73B7C142-2231-4F62-A56D-75FCC396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06078183-2753-424F-8146-8AA23CB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From drawing to marked metal: planning the work</a:t>
            </a:r>
          </a:p>
        </p:txBody>
      </p:sp>
      <p:sp>
        <p:nvSpPr>
          <p:cNvPr id="7" name="roadmap-panel-2">
            <a:extLst xmlns:a="http://schemas.openxmlformats.org/drawingml/2006/main">
              <a:ext uri="{FF2B5EF4-FFF2-40B4-BE49-F238E27FC236}">
                <a16:creationId xmlns:a16="http://schemas.microsoft.com/office/drawing/2014/main" id="{11687336-CBFB-4BF1-A061-480BCC72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oadmap-index-2">
            <a:extLst xmlns:a="http://schemas.openxmlformats.org/drawingml/2006/main">
              <a:ext uri="{FF2B5EF4-FFF2-40B4-BE49-F238E27FC236}">
                <a16:creationId xmlns:a16="http://schemas.microsoft.com/office/drawing/2014/main" id="{A1F64F2A-348C-476F-BDF9-40BA30D1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54EE605E-DE6B-4DD1-8E9B-9FD271E9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the design process deliberately</a:t>
            </a:r>
          </a:p>
        </p:txBody>
      </p:sp>
      <p:sp>
        <p:nvSpPr>
          <p:cNvPr id="10" name="roadmap-panel-3">
            <a:extLst xmlns:a="http://schemas.openxmlformats.org/drawingml/2006/main">
              <a:ext uri="{FF2B5EF4-FFF2-40B4-BE49-F238E27FC236}">
                <a16:creationId xmlns:a16="http://schemas.microsoft.com/office/drawing/2014/main" id="{FF779315-46E5-4416-AD00-9422A82B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476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11" name="roadmap-index-3">
            <a:extLst xmlns:a="http://schemas.openxmlformats.org/drawingml/2006/main">
              <a:ext uri="{FF2B5EF4-FFF2-40B4-BE49-F238E27FC236}">
                <a16:creationId xmlns:a16="http://schemas.microsoft.com/office/drawing/2014/main" id="{E2C7F5A8-34A3-4815-8F11-69565E60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E805BBC6-67FB-4E62-A43B-51ED354B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019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Marking-out evidence</a:t>
            </a:r>
          </a:p>
        </p:txBody>
      </p:sp>
      <p:sp>
        <p:nvSpPr>
          <p:cNvPr id="1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F0C524E1-1DAA-4516-AC32-20FED371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2</a:t>
            </a:r>
          </a:p>
        </p:txBody>
      </p:sp>
      <p:sp>
        <p:nvSpPr>
          <p:cNvPr id="1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4F8B20A4-FD5B-4117-B0C2-566FA72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135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3EB6207A-ED77-40AE-B00B-27DB169E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0EE2B3-45DE-47E1-B7A8-F09DCA61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From drawing to marked metal: planning the work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8FFD7B-5344-41AB-9402-348E92EB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1-bullet-1">
            <a:extLst xmlns:a="http://schemas.openxmlformats.org/drawingml/2006/main">
              <a:ext uri="{FF2B5EF4-FFF2-40B4-BE49-F238E27FC236}">
                <a16:creationId xmlns:a16="http://schemas.microsoft.com/office/drawing/2014/main" id="{DAF45A04-80DD-4FD1-A5A2-AD10762E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Before metal is cut or shaped, the information on the teacher-issued plan must be read carefully.</a:t>
            </a:r>
          </a:p>
        </p:txBody>
      </p:sp>
      <p:sp>
        <p:nvSpPr>
          <p:cNvPr id="5" name="theory-1-bullet-2">
            <a:extLst xmlns:a="http://schemas.openxmlformats.org/drawingml/2006/main">
              <a:ext uri="{FF2B5EF4-FFF2-40B4-BE49-F238E27FC236}">
                <a16:creationId xmlns:a16="http://schemas.microsoft.com/office/drawing/2014/main" id="{2F71ED1F-BFB2-45BF-9CAA-EA9FE19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Accurate marking begins from an approved datum or reference edge.</a:t>
            </a:r>
          </a:p>
        </p:txBody>
      </p:sp>
      <p:sp>
        <p:nvSpPr>
          <p:cNvPr id="6" name="theory-1-bullet-3">
            <a:extLst xmlns:a="http://schemas.openxmlformats.org/drawingml/2006/main">
              <a:ext uri="{FF2B5EF4-FFF2-40B4-BE49-F238E27FC236}">
                <a16:creationId xmlns:a16="http://schemas.microsoft.com/office/drawing/2014/main" id="{2FC91617-CB93-446E-8ABA-B90FE02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Plan, measure, mark and check before any cutting begins.</a:t>
            </a:r>
          </a:p>
        </p:txBody>
      </p:sp>
      <p:sp>
        <p:nvSpPr>
          <p:cNvPr id="7" name="theory-1-callout-panel">
            <a:extLst xmlns:a="http://schemas.openxmlformats.org/drawingml/2006/main">
              <a:ext uri="{FF2B5EF4-FFF2-40B4-BE49-F238E27FC236}">
                <a16:creationId xmlns:a16="http://schemas.microsoft.com/office/drawing/2014/main" id="{AD4C3096-81EC-4BEB-9D7E-8C292380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1-callout">
            <a:extLst xmlns:a="http://schemas.openxmlformats.org/drawingml/2006/main">
              <a:ext uri="{FF2B5EF4-FFF2-40B4-BE49-F238E27FC236}">
                <a16:creationId xmlns:a16="http://schemas.microsoft.com/office/drawing/2014/main" id="{38579FEB-4C17-47BE-8BBD-BD78D05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Plan, measure, mark and check before any cutting begins.</a:t>
            </a:r>
          </a:p>
        </p:txBody>
      </p:sp>
      <p:sp>
        <p:nvSpPr>
          <p:cNvPr id="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8D25FBA8-A482-48A6-B1D4-7F6A0E21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2</a:t>
            </a:r>
          </a:p>
        </p:txBody>
      </p:sp>
      <p:sp>
        <p:nvSpPr>
          <p:cNvPr id="10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2682B252-D975-4E32-9278-DAD53F2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7410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1DB4BE64-E453-47AC-9FB7-823C87F8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26AB3D-DB29-4B6F-9C30-C8982588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the design process deliberately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FF7F807-CA06-4FE9-AD13-570555A0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2-bullet-1">
            <a:extLst xmlns:a="http://schemas.openxmlformats.org/drawingml/2006/main">
              <a:ext uri="{FF2B5EF4-FFF2-40B4-BE49-F238E27FC236}">
                <a16:creationId xmlns:a16="http://schemas.microsoft.com/office/drawing/2014/main" id="{85DC8B67-2E56-4B83-8514-007DF144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Investigate the need, explore ideas and plan the work before production.</a:t>
            </a:r>
          </a:p>
        </p:txBody>
      </p:sp>
      <p:sp>
        <p:nvSpPr>
          <p:cNvPr id="5" name="theory-2-bullet-2">
            <a:extLst xmlns:a="http://schemas.openxmlformats.org/drawingml/2006/main">
              <a:ext uri="{FF2B5EF4-FFF2-40B4-BE49-F238E27FC236}">
                <a16:creationId xmlns:a16="http://schemas.microsoft.com/office/drawing/2014/main" id="{BFC40234-D745-4192-BEBD-D0CB3408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Planning ahead reduces wasted time and material.</a:t>
            </a:r>
          </a:p>
        </p:txBody>
      </p:sp>
      <p:sp>
        <p:nvSpPr>
          <p:cNvPr id="6" name="theory-2-bullet-3">
            <a:extLst xmlns:a="http://schemas.openxmlformats.org/drawingml/2006/main">
              <a:ext uri="{FF2B5EF4-FFF2-40B4-BE49-F238E27FC236}">
                <a16:creationId xmlns:a16="http://schemas.microsoft.com/office/drawing/2014/main" id="{93897EC7-5BBB-4B23-BA1E-C293D564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sketch explores; an approved working drawing controls production.</a:t>
            </a:r>
          </a:p>
        </p:txBody>
      </p:sp>
      <p:sp>
        <p:nvSpPr>
          <p:cNvPr id="7" name="theory-2-callout-panel">
            <a:extLst xmlns:a="http://schemas.openxmlformats.org/drawingml/2006/main">
              <a:ext uri="{FF2B5EF4-FFF2-40B4-BE49-F238E27FC236}">
                <a16:creationId xmlns:a16="http://schemas.microsoft.com/office/drawing/2014/main" id="{27E34818-1B54-4746-AA27-9B1F7BA8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2-callout">
            <a:extLst xmlns:a="http://schemas.openxmlformats.org/drawingml/2006/main">
              <a:ext uri="{FF2B5EF4-FFF2-40B4-BE49-F238E27FC236}">
                <a16:creationId xmlns:a16="http://schemas.microsoft.com/office/drawing/2014/main" id="{CF5F0511-2F14-4404-A97F-763C0EAC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 sketch explores; an approved working drawing controls production.</a:t>
            </a:r>
          </a:p>
        </p:txBody>
      </p:sp>
      <p:sp>
        <p:nvSpPr>
          <p:cNvPr id="9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1633CBA4-12FE-405A-89CD-B8F5BA9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2</a:t>
            </a:r>
          </a:p>
        </p:txBody>
      </p:sp>
      <p:sp>
        <p:nvSpPr>
          <p:cNvPr id="10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CE8138D9-9899-4ED3-A285-C3AF2D00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5151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582E812-9AD6-4F14-8DA4-65A6090F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THEORY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33EA92-E5E7-4AAE-94E4-F03ED37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Marking-out evidence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755D16-D7BC-405D-BAC8-FA7A42B4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Use the key ideas to interpret the project evidence and make a controlled decision.</a:t>
            </a:r>
          </a:p>
        </p:txBody>
      </p:sp>
      <p:sp>
        <p:nvSpPr>
          <p:cNvPr id="4" name="theory-3-bullet-1">
            <a:extLst xmlns:a="http://schemas.openxmlformats.org/drawingml/2006/main">
              <a:ext uri="{FF2B5EF4-FFF2-40B4-BE49-F238E27FC236}">
                <a16:creationId xmlns:a16="http://schemas.microsoft.com/office/drawing/2014/main" id="{14E6BC04-199C-4856-B5B8-2072C9FF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 the measuring and marking tools demonstrated for the material and feature.</a:t>
            </a:r>
          </a:p>
        </p:txBody>
      </p:sp>
      <p:sp>
        <p:nvSpPr>
          <p:cNvPr id="5" name="theory-3-bullet-2">
            <a:extLst xmlns:a="http://schemas.openxmlformats.org/drawingml/2006/main">
              <a:ext uri="{FF2B5EF4-FFF2-40B4-BE49-F238E27FC236}">
                <a16:creationId xmlns:a16="http://schemas.microsoft.com/office/drawing/2014/main" id="{525C9725-6952-4F64-BDCB-80F40426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Your folio evidence should show the issued plan beside the marked component, the datum edge and a short caption explaining the check completed before cutting.</a:t>
            </a:r>
          </a:p>
        </p:txBody>
      </p:sp>
      <p:sp>
        <p:nvSpPr>
          <p:cNvPr id="6" name="theory-3-bullet-3">
            <a:extLst xmlns:a="http://schemas.openxmlformats.org/drawingml/2006/main">
              <a:ext uri="{FF2B5EF4-FFF2-40B4-BE49-F238E27FC236}">
                <a16:creationId xmlns:a16="http://schemas.microsoft.com/office/drawing/2014/main" id="{042D2CD4-83CB-4D91-984D-AEDF0AA9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clear mark is only useful when it is in the correct place.</a:t>
            </a:r>
          </a:p>
        </p:txBody>
      </p:sp>
      <p:sp>
        <p:nvSpPr>
          <p:cNvPr id="7" name="theory-3-callout-panel">
            <a:extLst xmlns:a="http://schemas.openxmlformats.org/drawingml/2006/main">
              <a:ext uri="{FF2B5EF4-FFF2-40B4-BE49-F238E27FC236}">
                <a16:creationId xmlns:a16="http://schemas.microsoft.com/office/drawing/2014/main" id="{0B4B905F-A57F-441E-BD6E-BBD3DD5E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theory-3-callout">
            <a:extLst xmlns:a="http://schemas.openxmlformats.org/drawingml/2006/main">
              <a:ext uri="{FF2B5EF4-FFF2-40B4-BE49-F238E27FC236}">
                <a16:creationId xmlns:a16="http://schemas.microsoft.com/office/drawing/2014/main" id="{12FCAF17-CADF-4F86-B34F-36C7535C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 clear mark is only useful when it is in the correct place.</a:t>
            </a:r>
          </a:p>
        </p:txBody>
      </p:sp>
      <p:sp>
        <p:nvSpPr>
          <p:cNvPr id="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94087688-C1AB-4E84-89A4-CF4D0E0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2</a:t>
            </a:r>
          </a:p>
        </p:txBody>
      </p:sp>
      <p:sp>
        <p:nvSpPr>
          <p:cNvPr id="10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48676237-59E2-4D0E-9B14-FFC3ABE1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8334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433BDA1F-AE6D-4C01-B330-60E1770D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LEARNING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C685DE-2B7B-46B5-8688-E277C554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you explain each idea without guessing?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FEDC2C-F562-4549-B24D-683EDC79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Answer in your own words before opening the online knowledge checks.</a:t>
            </a:r>
          </a:p>
        </p:txBody>
      </p:sp>
      <p:sp>
        <p:nvSpPr>
          <p:cNvPr id="4" name="check-panel-1">
            <a:extLst xmlns:a="http://schemas.openxmlformats.org/drawingml/2006/main">
              <a:ext uri="{FF2B5EF4-FFF2-40B4-BE49-F238E27FC236}">
                <a16:creationId xmlns:a16="http://schemas.microsoft.com/office/drawing/2014/main" id="{D5BCEF4E-22C6-4189-BA57-2E6D9AD3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056BC7B6-E4DC-4B68-939D-EC544B15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eck-question-1">
            <a:extLst xmlns:a="http://schemas.openxmlformats.org/drawingml/2006/main">
              <a:ext uri="{FF2B5EF4-FFF2-40B4-BE49-F238E27FC236}">
                <a16:creationId xmlns:a16="http://schemas.microsoft.com/office/drawing/2014/main" id="{63AFE683-FF57-49AE-A6A3-112CF934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976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a datum or reference edge used?</a:t>
            </a:r>
          </a:p>
        </p:txBody>
      </p:sp>
      <p:sp>
        <p:nvSpPr>
          <p:cNvPr id="7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0179D36C-68D7-4207-8110-88005FD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2</a:t>
            </a:r>
          </a:p>
        </p:txBody>
      </p:sp>
      <p:sp>
        <p:nvSpPr>
          <p:cNvPr id="8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F131AC97-E884-4074-A5BA-41C79FB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5396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DF054F57-D090-483C-A047-F6A39571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WRITTEN RESPONSE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604128-92D5-41C9-9292-8ED2EC41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evidence, then explain your thinking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95C6CE-92BD-4A99-99AE-B1322DB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1616A"/>
                </a:solidFill>
                <a:latin typeface="Arial"/>
                <a:ea typeface="Arial"/>
                <a:cs typeface="Arial"/>
              </a:rPr>
              <a:t>The example shows an appropriate level of detail; do not copy it as your own response.</a:t>
            </a:r>
          </a:p>
        </p:txBody>
      </p:sp>
      <p:sp>
        <p:nvSpPr>
          <p:cNvPr id="4" name="response-prompt-panel">
            <a:extLst xmlns:a="http://schemas.openxmlformats.org/drawingml/2006/main">
              <a:ext uri="{FF2B5EF4-FFF2-40B4-BE49-F238E27FC236}">
                <a16:creationId xmlns:a16="http://schemas.microsoft.com/office/drawing/2014/main" id="{9555AB7B-62C2-4319-A97F-EF6C1539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5" name="response-prompt-heading">
            <a:extLst xmlns:a="http://schemas.openxmlformats.org/drawingml/2006/main">
              <a:ext uri="{FF2B5EF4-FFF2-40B4-BE49-F238E27FC236}">
                <a16:creationId xmlns:a16="http://schemas.microsoft.com/office/drawing/2014/main" id="{3DD07213-89BE-44C8-A53B-EF6811B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YOUR PROMPT</a:t>
            </a:r>
          </a:p>
        </p:txBody>
      </p:sp>
      <p:sp>
        <p:nvSpPr>
          <p:cNvPr id="6" name="response-prompt">
            <a:extLst xmlns:a="http://schemas.openxmlformats.org/drawingml/2006/main">
              <a:ext uri="{FF2B5EF4-FFF2-40B4-BE49-F238E27FC236}">
                <a16:creationId xmlns:a16="http://schemas.microsoft.com/office/drawing/2014/main" id="{BE862AC1-632A-4FCE-B69F-59B9B01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667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how using a reference edge and checking measurements twice can improve the accuracy of marked metal.</a:t>
            </a:r>
          </a:p>
        </p:txBody>
      </p:sp>
      <p:sp>
        <p:nvSpPr>
          <p:cNvPr id="7" name="response-model-panel">
            <a:extLst xmlns:a="http://schemas.openxmlformats.org/drawingml/2006/main">
              <a:ext uri="{FF2B5EF4-FFF2-40B4-BE49-F238E27FC236}">
                <a16:creationId xmlns:a16="http://schemas.microsoft.com/office/drawing/2014/main" id="{66E497E6-7BE7-4198-BBB3-7BE5D4DC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5600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9525">
            <a:solidFill>
              <a:srgbClr val="B8C2C7"/>
            </a:solidFill>
            <a:prstDash val="solid"/>
          </a:ln>
        </p:spPr>
      </p:sp>
      <p:sp>
        <p:nvSpPr>
          <p:cNvPr id="8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8C29CAE0-1C3B-4F1E-8F34-AA4992AB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200" b="1" spc="1">
                <a:solidFill>
                  <a:srgbClr val="174F5D"/>
                </a:solidFill>
                <a:latin typeface="Arial"/>
                <a:ea typeface="Arial"/>
                <a:cs typeface="Arial"/>
              </a:rPr>
              <a:t>APPROPRIATE RESPONSE EXAMPLE</a:t>
            </a:r>
          </a:p>
        </p:txBody>
      </p:sp>
      <p:sp>
        <p:nvSpPr>
          <p:cNvPr id="9" name="response-model">
            <a:extLst xmlns:a="http://schemas.openxmlformats.org/drawingml/2006/main">
              <a:ext uri="{FF2B5EF4-FFF2-40B4-BE49-F238E27FC236}">
                <a16:creationId xmlns:a16="http://schemas.microsoft.com/office/drawing/2014/main" id="{4C7E0EE9-C89C-47B1-A0AB-273BD826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5048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820"/>
                </a:solidFill>
                <a:latin typeface="Arial"/>
                <a:ea typeface="Arial"/>
                <a:cs typeface="Arial"/>
              </a:rPr>
              <a:t>I measure each position from the same reference edge so the measurements have one reliable starting point. I then check them against the issued plan before cutting. This can catch a wrong position, an unclear mark or use of the wrong edge.</a:t>
            </a:r>
          </a:p>
        </p:txBody>
      </p:sp>
      <p:sp>
        <p:nvSpPr>
          <p:cNvPr id="10" name="response-action">
            <a:extLst xmlns:a="http://schemas.openxmlformats.org/drawingml/2006/main">
              <a:ext uri="{FF2B5EF4-FFF2-40B4-BE49-F238E27FC236}">
                <a16:creationId xmlns:a16="http://schemas.microsoft.com/office/drawing/2014/main" id="{E7509904-914F-4F45-8770-340BF99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90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9032"/>
                </a:solidFill>
                <a:latin typeface="Arial"/>
                <a:ea typeface="Arial"/>
                <a:cs typeface="Arial"/>
              </a:rPr>
              <a:t>Complete the response online, check your evidence, then save or print it as directed.</a:t>
            </a:r>
          </a:p>
        </p:txBody>
      </p:sp>
      <p:sp>
        <p:nvSpPr>
          <p:cNvPr id="1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5C4EB88C-03F0-44B0-93B0-2AE3FC50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1616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1616A"/>
                </a:solidFill>
                <a:latin typeface="Arial"/>
                <a:ea typeface="Arial"/>
                <a:cs typeface="Arial"/>
              </a:rPr>
              <a:t>Hose Reel Holder · Module 2</a:t>
            </a:r>
          </a:p>
        </p:txBody>
      </p:sp>
      <p:sp>
        <p:nvSpPr>
          <p:cNvPr id="1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423D9E5A-A267-44E1-B811-67579F16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F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7402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2026-08-16T10:43:07.8700000Z</dcterms:created>
  <dcterms:modified xsi:type="dcterms:W3CDTF">2026-08-16T10:43:07.8700000Z</dcterms:modified>
</coreProperties>
</file>