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c314a9a4af43bd" /><Relationship Type="http://schemas.openxmlformats.org/officeDocument/2006/relationships/extended-properties" Target="/docProps/app.xml" Id="R71ee1154174947a3" /><Relationship Type="http://schemas.openxmlformats.org/officeDocument/2006/relationships/officeDocument" Target="/ppt/presentation.xml" Id="R97768052b2934c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89ff75cc8147cf"/>
  </p:sldMasterIdLst>
  <p:notesMasterIdLst>
    <p:notesMasterId xmlns:r="http://schemas.openxmlformats.org/officeDocument/2006/relationships" r:id="R5c413c8e152144c6"/>
  </p:notesMasterIdLst>
  <p:sldIdLst>
    <p:sldId xmlns:r="http://schemas.openxmlformats.org/officeDocument/2006/relationships" id="256" r:id="R8987984d9ece419c"/>
    <p:sldId xmlns:r="http://schemas.openxmlformats.org/officeDocument/2006/relationships" id="257" r:id="Rbef12f86b48c44ae"/>
    <p:sldId xmlns:r="http://schemas.openxmlformats.org/officeDocument/2006/relationships" id="258" r:id="Rb00cd20905b54d67"/>
    <p:sldId xmlns:r="http://schemas.openxmlformats.org/officeDocument/2006/relationships" id="259" r:id="Rb92bb2f304fb4f08"/>
    <p:sldId xmlns:r="http://schemas.openxmlformats.org/officeDocument/2006/relationships" id="260" r:id="Rb072a4d8c72640f6"/>
    <p:sldId xmlns:r="http://schemas.openxmlformats.org/officeDocument/2006/relationships" id="261" r:id="Rd6aeb29c6b4a44e9"/>
    <p:sldId xmlns:r="http://schemas.openxmlformats.org/officeDocument/2006/relationships" id="262" r:id="R79dc94f267894a60"/>
    <p:sldId xmlns:r="http://schemas.openxmlformats.org/officeDocument/2006/relationships" id="263" r:id="R499f8e89205b43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5416ce54c64a85" /><Relationship Type="http://schemas.openxmlformats.org/officeDocument/2006/relationships/slideMaster" Target="/ppt/slideMasters/slideMaster1.xml" Id="R2889ff75cc8147cf" /><Relationship Type="http://schemas.openxmlformats.org/officeDocument/2006/relationships/notesMaster" Target="/ppt/notesMasters/notesMaster1.xml" Id="R5c413c8e152144c6" /><Relationship Type="http://schemas.openxmlformats.org/officeDocument/2006/relationships/presProps" Target="/ppt/presProps.xml" Id="R0e7af873819c4e92" /><Relationship Type="http://schemas.openxmlformats.org/officeDocument/2006/relationships/tableStyles" Target="/ppt/tableStyles.xml" Id="R5312c46b6fc44b2f" /><Relationship Type="http://schemas.openxmlformats.org/officeDocument/2006/relationships/slide" Target="/ppt/slides/slide1.xml" Id="R8987984d9ece419c" /><Relationship Type="http://schemas.openxmlformats.org/officeDocument/2006/relationships/slide" Target="/ppt/slides/slide2.xml" Id="Rbef12f86b48c44ae" /><Relationship Type="http://schemas.openxmlformats.org/officeDocument/2006/relationships/slide" Target="/ppt/slides/slide3.xml" Id="Rb00cd20905b54d67" /><Relationship Type="http://schemas.openxmlformats.org/officeDocument/2006/relationships/slide" Target="/ppt/slides/slide4.xml" Id="Rb92bb2f304fb4f08" /><Relationship Type="http://schemas.openxmlformats.org/officeDocument/2006/relationships/slide" Target="/ppt/slides/slide5.xml" Id="Rb072a4d8c72640f6" /><Relationship Type="http://schemas.openxmlformats.org/officeDocument/2006/relationships/slide" Target="/ppt/slides/slide6.xml" Id="Rd6aeb29c6b4a44e9" /><Relationship Type="http://schemas.openxmlformats.org/officeDocument/2006/relationships/slide" Target="/ppt/slides/slide7.xml" Id="R79dc94f267894a60" /><Relationship Type="http://schemas.openxmlformats.org/officeDocument/2006/relationships/slide" Target="/ppt/slides/slide8.xml" Id="R499f8e89205b43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13fa645cc84c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b96e9b52c140a9" /><Relationship Type="http://schemas.openxmlformats.org/officeDocument/2006/relationships/notesMaster" Target="/ppt/notesMasters/notesMaster1.xml" Id="R282eb24283cc4c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8482e02ef44a8e" /><Relationship Type="http://schemas.openxmlformats.org/officeDocument/2006/relationships/notesMaster" Target="/ppt/notesMasters/notesMaster1.xml" Id="R5bd24382b4694e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6dd11fc6814377" /><Relationship Type="http://schemas.openxmlformats.org/officeDocument/2006/relationships/notesMaster" Target="/ppt/notesMasters/notesMaster1.xml" Id="R5112818a5df94b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b0217778094771" /><Relationship Type="http://schemas.openxmlformats.org/officeDocument/2006/relationships/notesMaster" Target="/ppt/notesMasters/notesMaster1.xml" Id="R7ccde65d001f4f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5c16772e594fb3" /><Relationship Type="http://schemas.openxmlformats.org/officeDocument/2006/relationships/notesMaster" Target="/ppt/notesMasters/notesMaster1.xml" Id="R7c1e8eab5d9e48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49c4e731a44968" /><Relationship Type="http://schemas.openxmlformats.org/officeDocument/2006/relationships/notesMaster" Target="/ppt/notesMasters/notesMaster1.xml" Id="Ra94952b1d03a49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9ec68196f84903" /><Relationship Type="http://schemas.openxmlformats.org/officeDocument/2006/relationships/notesMaster" Target="/ppt/notesMasters/notesMaster1.xml" Id="Rc6db9ee2698c45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ab8c0136c94130" /><Relationship Type="http://schemas.openxmlformats.org/officeDocument/2006/relationships/notesMaster" Target="/ppt/notesMasters/notesMaster1.xml" Id="R33782c5372084d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1a491c771247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eb748e553a4286" /><Relationship Type="http://schemas.openxmlformats.org/officeDocument/2006/relationships/slideLayout" Target="/ppt/slideLayouts/slideLayout1.xml" Id="Rcbc41dab11be43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c41dab11be43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2e393aa2445de" /><Relationship Type="http://schemas.openxmlformats.org/officeDocument/2006/relationships/image" Target="/ppt/media/image.bin" Id="R48fcb111b3784dfb" /><Relationship Type="http://schemas.openxmlformats.org/officeDocument/2006/relationships/notesSlide" Target="/ppt/notesSlides/notesSlide1.xml" Id="R7dc97f0442704c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d2505b00645e1" /><Relationship Type="http://schemas.openxmlformats.org/officeDocument/2006/relationships/notesSlide" Target="/ppt/notesSlides/notesSlide2.xml" Id="R1e68c00b5d4744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d987c88aa4514" /><Relationship Type="http://schemas.openxmlformats.org/officeDocument/2006/relationships/notesSlide" Target="/ppt/notesSlides/notesSlide3.xml" Id="Re8f47ef981ff4b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2cddc27df41dd" /><Relationship Type="http://schemas.openxmlformats.org/officeDocument/2006/relationships/notesSlide" Target="/ppt/notesSlides/notesSlide4.xml" Id="R11d1259f6cd34d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60adf7da94dc6" /><Relationship Type="http://schemas.openxmlformats.org/officeDocument/2006/relationships/notesSlide" Target="/ppt/notesSlides/notesSlide5.xml" Id="Rdfff9cb31c9f41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867364d0a4212" /><Relationship Type="http://schemas.openxmlformats.org/officeDocument/2006/relationships/notesSlide" Target="/ppt/notesSlides/notesSlide6.xml" Id="R2bdfe284abbb48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cf94eca0a47b3" /><Relationship Type="http://schemas.openxmlformats.org/officeDocument/2006/relationships/notesSlide" Target="/ppt/notesSlides/notesSlide7.xml" Id="R6076b6d2d55145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e4735c9154274" /><Relationship Type="http://schemas.openxmlformats.org/officeDocument/2006/relationships/notesSlide" Target="/ppt/notesSlides/notesSlide8.xml" Id="R8cace804293040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label">
            <a:extLst xmlns:a="http://schemas.openxmlformats.org/drawingml/2006/main">
              <a:ext uri="{FF2B5EF4-FFF2-40B4-BE49-F238E27FC236}">
                <a16:creationId xmlns:a16="http://schemas.microsoft.com/office/drawing/2014/main" id="{B49DF95E-9654-4BCC-A987-37ABB081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35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HOSE REEL HOLDER · MODULE 1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cb111b3784dfb"/>
          <a:srcRect xmlns:a="http://schemas.openxmlformats.org/drawingml/2006/main" l="28009" t="0" r="280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67625" y="0"/>
            <a:ext cx="452437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CC11A84-8FD4-40A4-AB3F-DF0BC649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6572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Project purpose and workshop readiness</a:t>
            </a:r>
          </a:p>
        </p:txBody>
      </p:sp>
      <p:sp>
        <p:nvSpPr>
          <p:cNvPr id="4" name="cover-summary">
            <a:extLst xmlns:a="http://schemas.openxmlformats.org/drawingml/2006/main">
              <a:ext uri="{FF2B5EF4-FFF2-40B4-BE49-F238E27FC236}">
                <a16:creationId xmlns:a16="http://schemas.microsoft.com/office/drawing/2014/main" id="{6FF5917A-539A-40C5-A52B-BAE7C9CE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51616A"/>
                </a:solidFill>
                <a:latin typeface="Arial"/>
                <a:ea typeface="Arial"/>
                <a:cs typeface="Arial"/>
              </a:rPr>
              <a:t>Understand the hose-reel-holder brief, identify constraints and build the safety habits required before practical work.</a:t>
            </a:r>
          </a:p>
        </p:txBody>
      </p:sp>
      <p:sp>
        <p:nvSpPr>
          <p:cNvPr id="5" name="cover-weeks">
            <a:extLst xmlns:a="http://schemas.openxmlformats.org/drawingml/2006/main">
              <a:ext uri="{FF2B5EF4-FFF2-40B4-BE49-F238E27FC236}">
                <a16:creationId xmlns:a16="http://schemas.microsoft.com/office/drawing/2014/main" id="{D44C18AB-FA3B-4BF4-9083-6B365925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Weeks 1–2</a:t>
            </a:r>
          </a:p>
        </p:txBody>
      </p:sp>
    </p:spTree>
    <p:extLst>
      <p:ext uri="{BB962C8B-B14F-4D97-AF65-F5344CB8AC3E}">
        <p14:creationId xmlns:p14="http://schemas.microsoft.com/office/powerpoint/2010/main" val="8549307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D14B283B-4D08-47CD-BD3E-0484C2DE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100748-CFEC-4553-84DC-5A8AFA92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Start with what you already know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3DC280F-BAA6-4DE7-B2DD-E17A88D6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Think first. Discuss your reasoning, then check it against the module.</a:t>
            </a:r>
          </a:p>
        </p:txBody>
      </p:sp>
      <p:sp>
        <p:nvSpPr>
          <p:cNvPr id="4" name="retrieval-panel-1">
            <a:extLst xmlns:a="http://schemas.openxmlformats.org/drawingml/2006/main">
              <a:ext uri="{FF2B5EF4-FFF2-40B4-BE49-F238E27FC236}">
                <a16:creationId xmlns:a16="http://schemas.microsoft.com/office/drawing/2014/main" id="{ED710282-E2F9-4EE7-BBE9-DC4F295D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etrieval-number-1">
            <a:extLst xmlns:a="http://schemas.openxmlformats.org/drawingml/2006/main">
              <a:ext uri="{FF2B5EF4-FFF2-40B4-BE49-F238E27FC236}">
                <a16:creationId xmlns:a16="http://schemas.microsoft.com/office/drawing/2014/main" id="{872D45D9-06A0-45A5-A3C2-5C5384FD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retrieval-question-1">
            <a:extLst xmlns:a="http://schemas.openxmlformats.org/drawingml/2006/main">
              <a:ext uri="{FF2B5EF4-FFF2-40B4-BE49-F238E27FC236}">
                <a16:creationId xmlns:a16="http://schemas.microsoft.com/office/drawing/2014/main" id="{0C181C76-2D6F-4762-B23A-A2AAD494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336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Where should the holder’s exact shape and details come from?</a:t>
            </a:r>
          </a:p>
        </p:txBody>
      </p:sp>
      <p:sp>
        <p:nvSpPr>
          <p:cNvPr id="7" name="retrieval-panel-2">
            <a:extLst xmlns:a="http://schemas.openxmlformats.org/drawingml/2006/main">
              <a:ext uri="{FF2B5EF4-FFF2-40B4-BE49-F238E27FC236}">
                <a16:creationId xmlns:a16="http://schemas.microsoft.com/office/drawing/2014/main" id="{F36987D7-2F0F-4264-BB8C-C686F707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etrieval-number-2">
            <a:extLst xmlns:a="http://schemas.openxmlformats.org/drawingml/2006/main">
              <a:ext uri="{FF2B5EF4-FFF2-40B4-BE49-F238E27FC236}">
                <a16:creationId xmlns:a16="http://schemas.microsoft.com/office/drawing/2014/main" id="{D7FF6F96-CDFB-4C57-91DB-E092614F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retrieval-question-2">
            <a:extLst xmlns:a="http://schemas.openxmlformats.org/drawingml/2006/main">
              <a:ext uri="{FF2B5EF4-FFF2-40B4-BE49-F238E27FC236}">
                <a16:creationId xmlns:a16="http://schemas.microsoft.com/office/drawing/2014/main" id="{AAC582EB-C3FE-4EB6-ADDE-C1049C70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004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Which statement best describes a design requirement?</a:t>
            </a:r>
          </a:p>
        </p:txBody>
      </p:sp>
      <p:sp>
        <p:nvSpPr>
          <p:cNvPr id="10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FEAB4E3A-0D17-45E2-9D5E-8DA3E1D3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1</a:t>
            </a:r>
          </a:p>
        </p:txBody>
      </p:sp>
      <p:sp>
        <p:nvSpPr>
          <p:cNvPr id="11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C07B8F35-A372-4CA4-8115-CEF531B1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327446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8AFE4209-B2BF-40B5-918B-DD85779D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BCB2EE-6055-47BF-A8FB-9622A64D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ideas organise this module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50584AC-70EF-4B45-A5E3-7FDBEC57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Work through them in order, then complete the checks and written evidence.</a:t>
            </a:r>
          </a:p>
        </p:txBody>
      </p:sp>
      <p:sp>
        <p:nvSpPr>
          <p:cNvPr id="4" name="roadmap-panel-1">
            <a:extLst xmlns:a="http://schemas.openxmlformats.org/drawingml/2006/main">
              <a:ext uri="{FF2B5EF4-FFF2-40B4-BE49-F238E27FC236}">
                <a16:creationId xmlns:a16="http://schemas.microsoft.com/office/drawing/2014/main" id="{AE856722-7586-4F3D-8343-30218F43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oadmap-index-1">
            <a:extLst xmlns:a="http://schemas.openxmlformats.org/drawingml/2006/main">
              <a:ext uri="{FF2B5EF4-FFF2-40B4-BE49-F238E27FC236}">
                <a16:creationId xmlns:a16="http://schemas.microsoft.com/office/drawing/2014/main" id="{5E74CCC6-C75D-48E6-A7A9-55AEBB43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oadmap-title-1">
            <a:extLst xmlns:a="http://schemas.openxmlformats.org/drawingml/2006/main">
              <a:ext uri="{FF2B5EF4-FFF2-40B4-BE49-F238E27FC236}">
                <a16:creationId xmlns:a16="http://schemas.microsoft.com/office/drawing/2014/main" id="{94058B05-A5BB-41A5-B2F3-67C963A8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Meet the project: function, users and constraints</a:t>
            </a:r>
          </a:p>
        </p:txBody>
      </p:sp>
      <p:sp>
        <p:nvSpPr>
          <p:cNvPr id="7" name="roadmap-panel-2">
            <a:extLst xmlns:a="http://schemas.openxmlformats.org/drawingml/2006/main">
              <a:ext uri="{FF2B5EF4-FFF2-40B4-BE49-F238E27FC236}">
                <a16:creationId xmlns:a16="http://schemas.microsoft.com/office/drawing/2014/main" id="{1D12027C-5A6C-4394-BA64-5DAF37CE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oadmap-index-2">
            <a:extLst xmlns:a="http://schemas.openxmlformats.org/drawingml/2006/main">
              <a:ext uri="{FF2B5EF4-FFF2-40B4-BE49-F238E27FC236}">
                <a16:creationId xmlns:a16="http://schemas.microsoft.com/office/drawing/2014/main" id="{E58540AE-6330-4480-B921-CF8C0041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oadmap-title-2">
            <a:extLst xmlns:a="http://schemas.openxmlformats.org/drawingml/2006/main">
              <a:ext uri="{FF2B5EF4-FFF2-40B4-BE49-F238E27FC236}">
                <a16:creationId xmlns:a16="http://schemas.microsoft.com/office/drawing/2014/main" id="{7235B5A3-830F-4C3C-8255-A2087AC3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Workshop entry and machine permission</a:t>
            </a:r>
          </a:p>
        </p:txBody>
      </p:sp>
      <p:sp>
        <p:nvSpPr>
          <p:cNvPr id="10" name="roadmap-panel-3">
            <a:extLst xmlns:a="http://schemas.openxmlformats.org/drawingml/2006/main">
              <a:ext uri="{FF2B5EF4-FFF2-40B4-BE49-F238E27FC236}">
                <a16:creationId xmlns:a16="http://schemas.microsoft.com/office/drawing/2014/main" id="{F1A980D4-2B8E-4389-800B-FAF63F09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roadmap-index-3">
            <a:extLst xmlns:a="http://schemas.openxmlformats.org/drawingml/2006/main">
              <a:ext uri="{FF2B5EF4-FFF2-40B4-BE49-F238E27FC236}">
                <a16:creationId xmlns:a16="http://schemas.microsoft.com/office/drawing/2014/main" id="{65D982D2-8908-414D-9123-D4A61BFF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roadmap-title-3">
            <a:extLst xmlns:a="http://schemas.openxmlformats.org/drawingml/2006/main">
              <a:ext uri="{FF2B5EF4-FFF2-40B4-BE49-F238E27FC236}">
                <a16:creationId xmlns:a16="http://schemas.microsoft.com/office/drawing/2014/main" id="{E37CC729-DBF0-4899-9889-2F23F628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Learn from the unsafe scenario</a:t>
            </a:r>
          </a:p>
        </p:txBody>
      </p:sp>
      <p:sp>
        <p:nvSpPr>
          <p:cNvPr id="13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83AE6273-008F-4AB4-965D-88DED06E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1</a:t>
            </a:r>
          </a:p>
        </p:txBody>
      </p:sp>
      <p:sp>
        <p:nvSpPr>
          <p:cNvPr id="14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5A09ADEA-13AB-4F5C-A8BC-1442E14D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725317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141D9E37-6654-4F51-A75F-F3BB47AD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866C69-8A3F-4EE4-8619-743C5875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Meet the project: function, users and constraints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7851068-F601-49C8-836A-2CD2D2FE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sp>
        <p:nvSpPr>
          <p:cNvPr id="4" name="theory-1-bullet-1">
            <a:extLst xmlns:a="http://schemas.openxmlformats.org/drawingml/2006/main">
              <a:ext uri="{FF2B5EF4-FFF2-40B4-BE49-F238E27FC236}">
                <a16:creationId xmlns:a16="http://schemas.microsoft.com/office/drawing/2014/main" id="{2915430D-8C4A-4804-B274-601C42F5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The Hose Reel Holder is an outdoor mild-steel project designed to store and support a garden hose reel in a stable, practical position.</a:t>
            </a:r>
          </a:p>
        </p:txBody>
      </p:sp>
      <p:sp>
        <p:nvSpPr>
          <p:cNvPr id="5" name="theory-1-bullet-2">
            <a:extLst xmlns:a="http://schemas.openxmlformats.org/drawingml/2006/main">
              <a:ext uri="{FF2B5EF4-FFF2-40B4-BE49-F238E27FC236}">
                <a16:creationId xmlns:a16="http://schemas.microsoft.com/office/drawing/2014/main" id="{3E38DBFA-7E61-47A5-B455-3661758D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Every design has constraints.</a:t>
            </a:r>
          </a:p>
        </p:txBody>
      </p:sp>
      <p:sp>
        <p:nvSpPr>
          <p:cNvPr id="6" name="theory-1-bullet-3">
            <a:extLst xmlns:a="http://schemas.openxmlformats.org/drawingml/2006/main">
              <a:ext uri="{FF2B5EF4-FFF2-40B4-BE49-F238E27FC236}">
                <a16:creationId xmlns:a16="http://schemas.microsoft.com/office/drawing/2014/main" id="{77BBBC6A-BB0D-4465-996C-AE92042C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Understand the purpose and constraints before beginning practical work.</a:t>
            </a:r>
          </a:p>
        </p:txBody>
      </p:sp>
      <p:sp>
        <p:nvSpPr>
          <p:cNvPr id="7" name="theory-1-callout-panel">
            <a:extLst xmlns:a="http://schemas.openxmlformats.org/drawingml/2006/main">
              <a:ext uri="{FF2B5EF4-FFF2-40B4-BE49-F238E27FC236}">
                <a16:creationId xmlns:a16="http://schemas.microsoft.com/office/drawing/2014/main" id="{2DE450C3-B1CB-4033-AF97-C3FC02B1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theory-1-callout">
            <a:extLst xmlns:a="http://schemas.openxmlformats.org/drawingml/2006/main">
              <a:ext uri="{FF2B5EF4-FFF2-40B4-BE49-F238E27FC236}">
                <a16:creationId xmlns:a16="http://schemas.microsoft.com/office/drawing/2014/main" id="{5FD87A6A-E12D-4C0D-8DFB-9C74FA77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Understand the purpose and constraints before beginning practical work.</a:t>
            </a:r>
          </a:p>
        </p:txBody>
      </p:sp>
      <p:sp>
        <p:nvSpPr>
          <p:cNvPr id="9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1A6B01DA-04B2-4F27-A6AD-3651A4A8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1</a:t>
            </a:r>
          </a:p>
        </p:txBody>
      </p:sp>
      <p:sp>
        <p:nvSpPr>
          <p:cNvPr id="10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1B360B25-2B30-44B0-8D2D-069995B6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611137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FDECE2E7-96CC-4BB0-A2A4-45D4782F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59FBA0-8530-4354-AD17-31FCD1E9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Workshop entry and machine permission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B39D585-7166-40FD-9BD0-7E08D26B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sp>
        <p:nvSpPr>
          <p:cNvPr id="4" name="theory-2-bullet-1">
            <a:extLst xmlns:a="http://schemas.openxmlformats.org/drawingml/2006/main">
              <a:ext uri="{FF2B5EF4-FFF2-40B4-BE49-F238E27FC236}">
                <a16:creationId xmlns:a16="http://schemas.microsoft.com/office/drawing/2014/main" id="{F9BCD505-3553-4A2F-B2C1-A4A0D174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Safety is paramount.</a:t>
            </a:r>
          </a:p>
        </p:txBody>
      </p:sp>
      <p:sp>
        <p:nvSpPr>
          <p:cNvPr id="5" name="theory-2-bullet-2">
            <a:extLst xmlns:a="http://schemas.openxmlformats.org/drawingml/2006/main">
              <a:ext uri="{FF2B5EF4-FFF2-40B4-BE49-F238E27FC236}">
                <a16:creationId xmlns:a16="http://schemas.microsoft.com/office/drawing/2014/main" id="{6FEDB77F-043B-4E84-AEA6-7E92CF73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Before beginning, check the work area, the approved tool and the intended setup.</a:t>
            </a:r>
          </a:p>
        </p:txBody>
      </p:sp>
      <p:sp>
        <p:nvSpPr>
          <p:cNvPr id="6" name="theory-2-bullet-3">
            <a:extLst xmlns:a="http://schemas.openxmlformats.org/drawingml/2006/main">
              <a:ext uri="{FF2B5EF4-FFF2-40B4-BE49-F238E27FC236}">
                <a16:creationId xmlns:a16="http://schemas.microsoft.com/office/drawing/2014/main" id="{D5DA870E-4E28-441D-A1AA-09385D3B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Permission applies to the person, the machine, the setup and the task.</a:t>
            </a:r>
          </a:p>
        </p:txBody>
      </p:sp>
      <p:sp>
        <p:nvSpPr>
          <p:cNvPr id="7" name="theory-2-callout-panel">
            <a:extLst xmlns:a="http://schemas.openxmlformats.org/drawingml/2006/main">
              <a:ext uri="{FF2B5EF4-FFF2-40B4-BE49-F238E27FC236}">
                <a16:creationId xmlns:a16="http://schemas.microsoft.com/office/drawing/2014/main" id="{5EC9E933-EBB0-4FD3-B30B-6A5B8309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theory-2-callout">
            <a:extLst xmlns:a="http://schemas.openxmlformats.org/drawingml/2006/main">
              <a:ext uri="{FF2B5EF4-FFF2-40B4-BE49-F238E27FC236}">
                <a16:creationId xmlns:a16="http://schemas.microsoft.com/office/drawing/2014/main" id="{79EE0A20-4FBC-4345-A7D8-ECE2E1CE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Permission applies to the person, the machine, the setup and the task.</a:t>
            </a:r>
          </a:p>
        </p:txBody>
      </p:sp>
      <p:sp>
        <p:nvSpPr>
          <p:cNvPr id="9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17FC4660-D860-41D7-B5B9-4764819E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1</a:t>
            </a:r>
          </a:p>
        </p:txBody>
      </p:sp>
      <p:sp>
        <p:nvSpPr>
          <p:cNvPr id="10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328FB371-D743-4D07-94A9-69126F12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91180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7DB2C278-3B00-4C31-9C73-5EB26302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9A0969-8970-4116-8234-28146995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Learn from the unsafe scenario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F30F2ED-1A02-4CD5-838F-96AD86AB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sp>
        <p:nvSpPr>
          <p:cNvPr id="4" name="theory-3-bullet-1">
            <a:extLst xmlns:a="http://schemas.openxmlformats.org/drawingml/2006/main">
              <a:ext uri="{FF2B5EF4-FFF2-40B4-BE49-F238E27FC236}">
                <a16:creationId xmlns:a16="http://schemas.microsoft.com/office/drawing/2014/main" id="{DA974F9F-A573-43B7-A234-9EAD2E8E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Alex rushes into the workshop without putting on safety glasses or clearing his bag.</a:t>
            </a:r>
          </a:p>
        </p:txBody>
      </p:sp>
      <p:sp>
        <p:nvSpPr>
          <p:cNvPr id="5" name="theory-3-bullet-2">
            <a:extLst xmlns:a="http://schemas.openxmlformats.org/drawingml/2006/main">
              <a:ext uri="{FF2B5EF4-FFF2-40B4-BE49-F238E27FC236}">
                <a16:creationId xmlns:a16="http://schemas.microsoft.com/office/drawing/2014/main" id="{4934048C-06AE-4EB5-8043-2F2E8D72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The safe response is to stop, make the area safe, secure the material using the demonstrated setup and seek teacher direction.</a:t>
            </a:r>
          </a:p>
        </p:txBody>
      </p:sp>
      <p:sp>
        <p:nvSpPr>
          <p:cNvPr id="6" name="theory-3-bullet-3">
            <a:extLst xmlns:a="http://schemas.openxmlformats.org/drawingml/2006/main">
              <a:ext uri="{FF2B5EF4-FFF2-40B4-BE49-F238E27FC236}">
                <a16:creationId xmlns:a16="http://schemas.microsoft.com/office/drawing/2014/main" id="{8497CA09-3003-4C50-A196-3D974323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Safe practical work begins before the tool is switched on.</a:t>
            </a:r>
          </a:p>
        </p:txBody>
      </p:sp>
      <p:sp>
        <p:nvSpPr>
          <p:cNvPr id="7" name="theory-3-callout-panel">
            <a:extLst xmlns:a="http://schemas.openxmlformats.org/drawingml/2006/main">
              <a:ext uri="{FF2B5EF4-FFF2-40B4-BE49-F238E27FC236}">
                <a16:creationId xmlns:a16="http://schemas.microsoft.com/office/drawing/2014/main" id="{0B8863B3-1407-469A-81E9-FB8C1742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theory-3-callout">
            <a:extLst xmlns:a="http://schemas.openxmlformats.org/drawingml/2006/main">
              <a:ext uri="{FF2B5EF4-FFF2-40B4-BE49-F238E27FC236}">
                <a16:creationId xmlns:a16="http://schemas.microsoft.com/office/drawing/2014/main" id="{256CEA85-0ECD-4A99-8B79-1F15CE14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Safe practical work begins before the tool is switched on.</a:t>
            </a:r>
          </a:p>
        </p:txBody>
      </p:sp>
      <p:sp>
        <p:nvSpPr>
          <p:cNvPr id="9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40B738C8-8A9E-44CC-96C5-907AD21A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1</a:t>
            </a:r>
          </a:p>
        </p:txBody>
      </p:sp>
      <p:sp>
        <p:nvSpPr>
          <p:cNvPr id="10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AF90E36F-BF6F-4E79-86DE-ACC69DD4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67790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21CF6F67-1E72-43B8-959F-8C76FC7D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LEARNING CHECK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A65F6A-A050-4A2C-B146-3DA367E8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Can you explain each idea without guessing?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F543D5C-B74E-4E40-ABBA-4861BB81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Answer in your own words before opening the online knowledge checks.</a:t>
            </a:r>
          </a:p>
        </p:txBody>
      </p:sp>
      <p:sp>
        <p:nvSpPr>
          <p:cNvPr id="4" name="check-panel-1">
            <a:extLst xmlns:a="http://schemas.openxmlformats.org/drawingml/2006/main">
              <a:ext uri="{FF2B5EF4-FFF2-40B4-BE49-F238E27FC236}">
                <a16:creationId xmlns:a16="http://schemas.microsoft.com/office/drawing/2014/main" id="{5981F976-B918-431B-A06A-332BDB9B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check-index-1">
            <a:extLst xmlns:a="http://schemas.openxmlformats.org/drawingml/2006/main">
              <a:ext uri="{FF2B5EF4-FFF2-40B4-BE49-F238E27FC236}">
                <a16:creationId xmlns:a16="http://schemas.microsoft.com/office/drawing/2014/main" id="{F5A0212D-DE1D-46AC-B69F-6B482021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check-question-1">
            <a:extLst xmlns:a="http://schemas.openxmlformats.org/drawingml/2006/main">
              <a:ext uri="{FF2B5EF4-FFF2-40B4-BE49-F238E27FC236}">
                <a16:creationId xmlns:a16="http://schemas.microsoft.com/office/drawing/2014/main" id="{AB6C761F-47FC-4196-BC99-4FD103A0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241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Where should the holder’s exact shape and details come from?</a:t>
            </a:r>
          </a:p>
        </p:txBody>
      </p:sp>
      <p:sp>
        <p:nvSpPr>
          <p:cNvPr id="7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67289F34-E6A2-4D38-AB18-17A91D15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1</a:t>
            </a:r>
          </a:p>
        </p:txBody>
      </p:sp>
      <p:sp>
        <p:nvSpPr>
          <p:cNvPr id="8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A07B971F-0F90-45E7-AAF6-F5C388BA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873511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64A270F3-21C0-49EA-B7C5-BC30FD1C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WRITTEN RESPONSE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077759-2D54-4D7F-BF64-0047719D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Use evidence, then explain your thinking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427493E-31BB-420E-8C8A-56153E94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The example shows an appropriate level of detail; do not copy it as your own response.</a:t>
            </a:r>
          </a:p>
        </p:txBody>
      </p:sp>
      <p:sp>
        <p:nvSpPr>
          <p:cNvPr id="4" name="response-prompt-panel">
            <a:extLst xmlns:a="http://schemas.openxmlformats.org/drawingml/2006/main">
              <a:ext uri="{FF2B5EF4-FFF2-40B4-BE49-F238E27FC236}">
                <a16:creationId xmlns:a16="http://schemas.microsoft.com/office/drawing/2014/main" id="{6913E831-7AA0-4A80-9086-D22DDCC9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5219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esponse-prompt-heading">
            <a:extLst xmlns:a="http://schemas.openxmlformats.org/drawingml/2006/main">
              <a:ext uri="{FF2B5EF4-FFF2-40B4-BE49-F238E27FC236}">
                <a16:creationId xmlns:a16="http://schemas.microsoft.com/office/drawing/2014/main" id="{0F6E0D9C-591E-42FB-8588-01896951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YOUR PROMPT</a:t>
            </a:r>
          </a:p>
        </p:txBody>
      </p:sp>
      <p:sp>
        <p:nvSpPr>
          <p:cNvPr id="6" name="response-prompt">
            <a:extLst xmlns:a="http://schemas.openxmlformats.org/drawingml/2006/main">
              <a:ext uri="{FF2B5EF4-FFF2-40B4-BE49-F238E27FC236}">
                <a16:creationId xmlns:a16="http://schemas.microsoft.com/office/drawing/2014/main" id="{4DA46722-FD40-4354-A3D3-835044B4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667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Identify one user need and two likely constraints for the Hose Reel Holder. Explain how each could affect the finished project.</a:t>
            </a:r>
          </a:p>
        </p:txBody>
      </p:sp>
      <p:sp>
        <p:nvSpPr>
          <p:cNvPr id="7" name="response-model-panel">
            <a:extLst xmlns:a="http://schemas.openxmlformats.org/drawingml/2006/main">
              <a:ext uri="{FF2B5EF4-FFF2-40B4-BE49-F238E27FC236}">
                <a16:creationId xmlns:a16="http://schemas.microsoft.com/office/drawing/2014/main" id="{FEB43626-7AB0-4E37-A404-301F62E8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33650"/>
            <a:ext cx="5600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esponse-model-heading">
            <a:extLst xmlns:a="http://schemas.openxmlformats.org/drawingml/2006/main">
              <a:ext uri="{FF2B5EF4-FFF2-40B4-BE49-F238E27FC236}">
                <a16:creationId xmlns:a16="http://schemas.microsoft.com/office/drawing/2014/main" id="{DE29D13C-C89F-485A-80A2-B7B628B6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APPROPRIATE RESPONSE EXAMPLE</a:t>
            </a:r>
          </a:p>
        </p:txBody>
      </p:sp>
      <p:sp>
        <p:nvSpPr>
          <p:cNvPr id="9" name="response-model">
            <a:extLst xmlns:a="http://schemas.openxmlformats.org/drawingml/2006/main">
              <a:ext uri="{FF2B5EF4-FFF2-40B4-BE49-F238E27FC236}">
                <a16:creationId xmlns:a16="http://schemas.microsoft.com/office/drawing/2014/main" id="{5353B4E9-C8B5-4593-8CCB-81BD2E5E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5048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01820"/>
                </a:solidFill>
                <a:latin typeface="Arial"/>
                <a:ea typeface="Arial"/>
                <a:cs typeface="Arial"/>
              </a:rPr>
              <a:t>One user need is stable, convenient hose storage. Outdoor exposure is one constraint, so the steel needs the teacher-approved protective finish. Available workshop time and tools are another constraint, so I must follow the issued plan and approved processes.</a:t>
            </a:r>
          </a:p>
        </p:txBody>
      </p:sp>
      <p:sp>
        <p:nvSpPr>
          <p:cNvPr id="10" name="response-action">
            <a:extLst xmlns:a="http://schemas.openxmlformats.org/drawingml/2006/main">
              <a:ext uri="{FF2B5EF4-FFF2-40B4-BE49-F238E27FC236}">
                <a16:creationId xmlns:a16="http://schemas.microsoft.com/office/drawing/2014/main" id="{5D210E96-CA97-48E5-A5BA-4AED196E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Complete the response online, check your evidence, then save or print it as directed.</a:t>
            </a:r>
          </a:p>
        </p:txBody>
      </p:sp>
      <p:sp>
        <p:nvSpPr>
          <p:cNvPr id="11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69685C6E-C5A2-40F1-A005-ABA5AAEB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1</a:t>
            </a:r>
          </a:p>
        </p:txBody>
      </p:sp>
      <p:sp>
        <p:nvSpPr>
          <p:cNvPr id="12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0FB48C62-4966-4FDC-B612-BC282758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565263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2026-08-16T10:43:06.0380000Z</dcterms:created>
  <dcterms:modified xsi:type="dcterms:W3CDTF">2026-08-16T10:43:06.0380000Z</dcterms:modified>
</coreProperties>
</file>